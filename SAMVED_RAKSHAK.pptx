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9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7932-6E1C-930A-CDE0-A5E54EB5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>
            <a:extLst>
              <a:ext uri="{FF2B5EF4-FFF2-40B4-BE49-F238E27FC236}">
                <a16:creationId xmlns:a16="http://schemas.microsoft.com/office/drawing/2014/main" id="{9878768B-3646-CCE6-C3D3-19192095E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>
            <a:extLst>
              <a:ext uri="{FF2B5EF4-FFF2-40B4-BE49-F238E27FC236}">
                <a16:creationId xmlns:a16="http://schemas.microsoft.com/office/drawing/2014/main" id="{1986080C-1988-0A7D-9F4C-94A3B75B552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>
            <a:extLst>
              <a:ext uri="{FF2B5EF4-FFF2-40B4-BE49-F238E27FC236}">
                <a16:creationId xmlns:a16="http://schemas.microsoft.com/office/drawing/2014/main" id="{4C0E1AC8-5E76-0E7D-92AC-17D647C290B7}"/>
              </a:ext>
            </a:extLst>
          </p:cNvPr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7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93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13E427-BF0C-4257-840D-040CEDF73CD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9AAB66A-BCF3-4CCF-B2B3-38A175E22F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2A2F1F5-2130-425C-A1AF-87C7138E8D3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CB91DC3-8269-45C3-86BA-F25D3B27984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030E11C-33DD-4774-A059-0A0513AEF7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359EA091-27D9-4266-BAC3-4E0E3E6F5BE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0BBE227-CE76-4EE2-99E7-C975B1F063E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0B753A3-1247-4BEF-A58B-3AFE5A5F739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B6BBEB7-9907-439F-AC21-1B212AEF332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027678-E409-4D23-81BB-579826C0454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9D7A32-9AD0-4A6F-BCFD-931EBC82135E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549CDE-AB06-457C-8565-E91EFFEADEB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046AC-5463-4406-A176-CAA4A67B62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84A541-3FE1-4CE7-BAC7-85C62F3D5369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A125A6-50F5-44E1-AE96-97F0A47EF094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AAFB62-1C50-42B8-AF76-E28AAFD9CAD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786ED9-6CF6-4911-A926-5445554965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1E26C6-8147-4A1B-A690-24E72B344482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860" y="72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TITLE PAGE</a:t>
            </a: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2"/>
                </a:solidFill>
                <a:latin typeface="Garamond"/>
                <a:ea typeface="ＭＳ Ｐゴシック"/>
              </a:rPr>
              <a:t>“SAMVED” HACKATHON 2026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267826" y="1646123"/>
            <a:ext cx="10990392" cy="4008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ID </a:t>
            </a:r>
            <a:r>
              <a:rPr lang="en-US" sz="24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–  </a:t>
            </a:r>
            <a:r>
              <a:rPr lang="en-US" sz="2400" strike="noStrike" spc="-1">
                <a:solidFill>
                  <a:schemeClr val="dk1"/>
                </a:solidFill>
                <a:latin typeface="Arial"/>
                <a:ea typeface="ＭＳ Ｐゴシック"/>
              </a:rPr>
              <a:t>PS-004</a:t>
            </a:r>
            <a:endParaRPr lang="en-IN" sz="240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</a:t>
            </a:r>
            <a:r>
              <a:rPr lang="en-US" sz="2400" b="1" strike="noStrike" spc="-1" dirty="0">
                <a:solidFill>
                  <a:schemeClr val="dk1"/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Title-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Safety &amp; Assistance for Sanitation Workers </a:t>
            </a: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Theme-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Smart Safety Hand Band For Sanitation Workers</a:t>
            </a:r>
            <a:endParaRPr lang="en-IN" sz="200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ID- </a:t>
            </a:r>
            <a:r>
              <a:rPr lang="en-US" sz="2600" dirty="0"/>
              <a:t>MITVPU_SAMVED_RAKSHAK </a:t>
            </a: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Name- </a:t>
            </a:r>
            <a:r>
              <a:rPr lang="en-US" sz="2400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240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2"/>
          <a:stretch/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3"/>
          <a:stretch/>
        </p:blipFill>
        <p:spPr>
          <a:xfrm>
            <a:off x="8744580" y="422496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4E8228-8FB1-295D-6DC9-431D9086B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85" r="16017" b="17011"/>
          <a:stretch>
            <a:fillRect/>
          </a:stretch>
        </p:blipFill>
        <p:spPr>
          <a:xfrm>
            <a:off x="7833810" y="2477684"/>
            <a:ext cx="4137887" cy="3296465"/>
          </a:xfrm>
          <a:prstGeom prst="rect">
            <a:avLst/>
          </a:prstGeom>
        </p:spPr>
      </p:pic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2138" y="24397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br>
              <a:rPr sz="2800" dirty="0"/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Smart Safety Hand Band For Sanitation Workers</a:t>
            </a:r>
            <a:endParaRPr lang="en-IN" sz="2800" b="1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362138" y="1135102"/>
            <a:ext cx="10677633" cy="4004194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defTabSz="457200">
              <a:lnSpc>
                <a:spcPct val="150000"/>
              </a:lnSpc>
              <a:buClr>
                <a:srgbClr val="1F497D"/>
              </a:buClr>
              <a:buFont typeface="Wingdings" charset="2"/>
              <a:buChar char=""/>
            </a:pPr>
            <a:r>
              <a:rPr lang="en-US" sz="3200" b="1" u="sng" strike="noStrike" spc="-1" dirty="0">
                <a:solidFill>
                  <a:schemeClr val="dk2"/>
                </a:solidFill>
                <a:uFillTx/>
                <a:latin typeface="Arial"/>
                <a:ea typeface="ＭＳ Ｐゴシック"/>
              </a:rPr>
              <a:t>Proposed Solution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Wearable safety band for hazardous sewer environments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Integrated SOS emergency button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Real-time health monitoring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(Heart rate &amp; Body temperature)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Live sewer temperature and toxic gas detection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Instant alerts to supervisors and emergency teams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Compact, low-cost, and worker-friendly design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Oval 9"/>
          <p:cNvSpPr/>
          <p:nvPr/>
        </p:nvSpPr>
        <p:spPr>
          <a:xfrm>
            <a:off x="234240" y="253260"/>
            <a:ext cx="2146821" cy="5524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4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5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5D0F8A-F56C-7678-DA4A-9107DE3E16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2" r="-1654" b="94"/>
          <a:stretch>
            <a:fillRect/>
          </a:stretch>
        </p:blipFill>
        <p:spPr>
          <a:xfrm>
            <a:off x="7628168" y="1233968"/>
            <a:ext cx="3953392" cy="3804530"/>
          </a:xfrm>
          <a:prstGeom prst="rect">
            <a:avLst/>
          </a:prstGeom>
        </p:spPr>
      </p:pic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212001" y="-99314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TECHNICAL APPROACH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234240" y="1500365"/>
            <a:ext cx="8704776" cy="3182494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Hardware &amp; Technologies Used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Microcontroller: ESP32 / Arduino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Sensors: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Heartbeat (MAX30100),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Temperature (DS18B20),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Gas Sensors (MQ Series)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Communication: GSM / LoRa / Bluetooth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Alert System: Buzzer, vibration &amp; mobile/cloud notification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4"/>
          <a:stretch/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5"/>
          <a:stretch/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50B633A1-7972-A1A9-078F-D82A2939B235}"/>
              </a:ext>
            </a:extLst>
          </p:cNvPr>
          <p:cNvSpPr/>
          <p:nvPr/>
        </p:nvSpPr>
        <p:spPr>
          <a:xfrm>
            <a:off x="234240" y="253260"/>
            <a:ext cx="2146821" cy="5524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171B9-39CD-2B9C-F0F8-51872FE4A0A2}"/>
              </a:ext>
            </a:extLst>
          </p:cNvPr>
          <p:cNvSpPr txBox="1"/>
          <p:nvPr/>
        </p:nvSpPr>
        <p:spPr>
          <a:xfrm>
            <a:off x="234240" y="5000785"/>
            <a:ext cx="1264823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Flow: </a:t>
            </a:r>
            <a:r>
              <a:rPr lang="en-US" sz="2800" b="1" dirty="0">
                <a:solidFill>
                  <a:srgbClr val="C00000"/>
                </a:solidFill>
              </a:rPr>
              <a:t>Sensors → Controller → Risk Analysis → Alert / SOS → Authority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32380" y="1373760"/>
            <a:ext cx="10292293" cy="266927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Technically feasible using existing IoT components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Low-cost and scalable for large workforce deployment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Challenges: Harsh environment &amp; sensor accuracy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Solutions: Waterproof casing, calibration &amp; threshold-based alerts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adopted by municipalities and sanitation departments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14C324D0-0B89-4DC5-1FF5-22C8A94EB624}"/>
              </a:ext>
            </a:extLst>
          </p:cNvPr>
          <p:cNvSpPr/>
          <p:nvPr/>
        </p:nvSpPr>
        <p:spPr>
          <a:xfrm>
            <a:off x="234240" y="253260"/>
            <a:ext cx="2146821" cy="5524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IMPACT AND BENEFITS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09479" y="1105560"/>
            <a:ext cx="10972080" cy="3100164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Drastically reduces risk of fatalities and accidents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Ensures real-time worker safety and monitoring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Social Impact: Protects dignity and lives of sanitation workers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Economic Impact: Reduces medical and compensation costs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Impact: Prevents unattended sewer hazards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288D5072-E1F7-C350-08E9-93C8E6AC7D67}"/>
              </a:ext>
            </a:extLst>
          </p:cNvPr>
          <p:cNvSpPr/>
          <p:nvPr/>
        </p:nvSpPr>
        <p:spPr>
          <a:xfrm>
            <a:off x="234240" y="253260"/>
            <a:ext cx="2146821" cy="5524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331770" y="-1141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609480" y="1028160"/>
            <a:ext cx="11106270" cy="495830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WHO – Occupational Safety for Sanitation Workers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https://www.who.int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IoT-Based Monitoring and Alert System for Sewage Worker’s Safety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https://pmc.ncbi.nlm.nih.gov/articles/PMC6103782/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Smart Safety Monitoring System for Sewage Workers (IJSRSET)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https://ijsrset.com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Alerting and Detection of Toxic Gases in Sewage using IoT (IJRASET)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https://www.ijraset.com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MAX30100 Heart Rate Sensor Datasheet – Analog Devices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https://www.analog.com/en/products/max30100.html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MQ Series Gas Sensor Datasheets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https://www.sparkfun.com/datasheets/Sensors/Biometric/MQ-135.pdf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B60DE247-230E-352E-D3EA-258BB37DBB8F}"/>
              </a:ext>
            </a:extLst>
          </p:cNvPr>
          <p:cNvSpPr/>
          <p:nvPr/>
        </p:nvSpPr>
        <p:spPr>
          <a:xfrm>
            <a:off x="125599" y="253260"/>
            <a:ext cx="2137767" cy="5524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5485-54D0-430A-A377-D229FB88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>
            <a:extLst>
              <a:ext uri="{FF2B5EF4-FFF2-40B4-BE49-F238E27FC236}">
                <a16:creationId xmlns:a16="http://schemas.microsoft.com/office/drawing/2014/main" id="{3CA4F907-7B04-E204-CD0A-E4158F32EAD8}"/>
              </a:ext>
            </a:extLst>
          </p:cNvPr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1" name="PlaceHolder 1">
            <a:extLst>
              <a:ext uri="{FF2B5EF4-FFF2-40B4-BE49-F238E27FC236}">
                <a16:creationId xmlns:a16="http://schemas.microsoft.com/office/drawing/2014/main" id="{BE969CD1-67E3-BB56-0347-BAE7E02C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0289" y="-4167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>
            <a:extLst>
              <a:ext uri="{FF2B5EF4-FFF2-40B4-BE49-F238E27FC236}">
                <a16:creationId xmlns:a16="http://schemas.microsoft.com/office/drawing/2014/main" id="{C37634BB-31FB-2686-C8E1-F6F1E6B551FD}"/>
              </a:ext>
            </a:extLst>
          </p:cNvPr>
          <p:cNvSpPr/>
          <p:nvPr/>
        </p:nvSpPr>
        <p:spPr>
          <a:xfrm>
            <a:off x="2130462" y="2418323"/>
            <a:ext cx="11106270" cy="162976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0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THANKYOU</a:t>
            </a: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94897439-B520-CDFF-1A79-2355797B5E84}"/>
              </a:ext>
            </a:extLst>
          </p:cNvPr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7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8C48B60F-8FC0-9725-584E-D64AE4A9C0B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F4DEB45-5816-2303-4F55-526CB74F9F9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463BFFA1-5CBE-934A-D8DD-50F4763D987B}"/>
              </a:ext>
            </a:extLst>
          </p:cNvPr>
          <p:cNvSpPr/>
          <p:nvPr/>
        </p:nvSpPr>
        <p:spPr>
          <a:xfrm>
            <a:off x="134652" y="253260"/>
            <a:ext cx="2146821" cy="5524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/>
                <a:ea typeface="ＭＳ Ｐゴシック"/>
              </a:rPr>
              <a:t>RAKSHAK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747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7592</TotalTime>
  <Words>381</Words>
  <Application>Microsoft Office PowerPoint</Application>
  <PresentationFormat>Widescreen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Arial</vt:lpstr>
      <vt:lpstr>Calibri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“SAMVED” HACKATHON 2026</vt:lpstr>
      <vt:lpstr> Smart Safety Hand Band For Sanitation Workers</vt:lpstr>
      <vt:lpstr>TECHNICAL APPROACH</vt:lpstr>
      <vt:lpstr>FEASIBILITY AND VIABILITY</vt:lpstr>
      <vt:lpstr>IMPACT AND BENEFITS</vt:lpstr>
      <vt:lpstr>RESEARCH  AND REFERENCES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kgr</cp:lastModifiedBy>
  <cp:revision>156</cp:revision>
  <dcterms:created xsi:type="dcterms:W3CDTF">2013-12-12T18:46:50Z</dcterms:created>
  <dcterms:modified xsi:type="dcterms:W3CDTF">2026-02-03T07:40:36Z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